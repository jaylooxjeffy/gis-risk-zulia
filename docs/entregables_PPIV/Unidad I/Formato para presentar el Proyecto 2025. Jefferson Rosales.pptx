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7" r:id="rId2"/>
    <p:sldId id="256" r:id="rId3"/>
    <p:sldId id="265" r:id="rId4"/>
    <p:sldId id="274" r:id="rId5"/>
    <p:sldId id="266" r:id="rId6"/>
    <p:sldId id="258" r:id="rId7"/>
    <p:sldId id="267" r:id="rId8"/>
    <p:sldId id="268" r:id="rId9"/>
    <p:sldId id="269" r:id="rId10"/>
    <p:sldId id="270" r:id="rId11"/>
    <p:sldId id="271" r:id="rId12"/>
    <p:sldId id="272" r:id="rId13"/>
    <p:sldId id="273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D36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79961" autoAdjust="0"/>
  </p:normalViewPr>
  <p:slideViewPr>
    <p:cSldViewPr snapToGrid="0">
      <p:cViewPr varScale="1">
        <p:scale>
          <a:sx n="70" d="100"/>
          <a:sy n="70" d="100"/>
        </p:scale>
        <p:origin x="133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063E06-A84F-4C05-8310-FA5133758798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8DC443-484E-4CEA-B592-E4BE2CB008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5389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INVESTIGAR LOS PIONEROS DEL CICLO DE VIDA</a:t>
            </a:r>
          </a:p>
          <a:p>
            <a:endParaRPr lang="en-US" dirty="0"/>
          </a:p>
          <a:p>
            <a:r>
              <a:rPr lang="en-US" dirty="0" err="1"/>
              <a:t>Planificacion</a:t>
            </a:r>
            <a:r>
              <a:rPr lang="en-US" dirty="0"/>
              <a:t> 1,2 </a:t>
            </a:r>
            <a:r>
              <a:rPr lang="en-US" dirty="0" err="1"/>
              <a:t>lamin</a:t>
            </a:r>
            <a:r>
              <a:rPr lang="en-US" dirty="0"/>
              <a:t> (</a:t>
            </a:r>
            <a:r>
              <a:rPr lang="en-US" dirty="0" err="1"/>
              <a:t>diagrama</a:t>
            </a:r>
            <a:r>
              <a:rPr lang="en-US" dirty="0"/>
              <a:t> de </a:t>
            </a:r>
            <a:r>
              <a:rPr lang="en-US" dirty="0" err="1"/>
              <a:t>gantt</a:t>
            </a:r>
            <a:r>
              <a:rPr lang="en-US" dirty="0"/>
              <a:t>), </a:t>
            </a:r>
            <a:r>
              <a:rPr lang="en-US" dirty="0" err="1"/>
              <a:t>analisis</a:t>
            </a:r>
            <a:r>
              <a:rPr lang="en-US" dirty="0"/>
              <a:t> 1,2 </a:t>
            </a:r>
            <a:r>
              <a:rPr lang="en-US" dirty="0" err="1"/>
              <a:t>lamin</a:t>
            </a:r>
            <a:r>
              <a:rPr lang="en-US" dirty="0"/>
              <a:t> (</a:t>
            </a:r>
            <a:r>
              <a:rPr lang="en-US" dirty="0" err="1"/>
              <a:t>que</a:t>
            </a:r>
            <a:r>
              <a:rPr lang="en-US" dirty="0"/>
              <a:t> se </a:t>
            </a:r>
            <a:r>
              <a:rPr lang="en-US" dirty="0" err="1"/>
              <a:t>va</a:t>
            </a:r>
            <a:r>
              <a:rPr lang="en-US" dirty="0"/>
              <a:t> a </a:t>
            </a:r>
            <a:r>
              <a:rPr lang="en-US" dirty="0" err="1"/>
              <a:t>presentar</a:t>
            </a:r>
            <a:r>
              <a:rPr lang="en-US" dirty="0"/>
              <a:t>), </a:t>
            </a:r>
            <a:r>
              <a:rPr lang="en-US" dirty="0" err="1"/>
              <a:t>dise</a:t>
            </a:r>
            <a:r>
              <a:rPr lang="es-VE" dirty="0" err="1"/>
              <a:t>ño</a:t>
            </a:r>
            <a:r>
              <a:rPr lang="es-VE" dirty="0"/>
              <a:t> 1,2 </a:t>
            </a:r>
            <a:r>
              <a:rPr lang="es-VE" dirty="0" err="1"/>
              <a:t>lamin</a:t>
            </a:r>
            <a:r>
              <a:rPr lang="es-VE" dirty="0"/>
              <a:t> (que se va a presentar, en que se va a desarrollar, ), pruebas 1,2 </a:t>
            </a:r>
            <a:r>
              <a:rPr lang="es-VE" dirty="0" err="1"/>
              <a:t>lamin</a:t>
            </a:r>
            <a:r>
              <a:rPr lang="es-VE" dirty="0"/>
              <a:t> (determinar en que estarán basadas), preestablecer todo eso. Para poder entregar un prototipo y aplicar </a:t>
            </a:r>
            <a:r>
              <a:rPr lang="es-VE"/>
              <a:t>la metodología.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8DC443-484E-4CEA-B592-E4BE2CB0089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71728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editar el estilo de subtítulo del patrón</a:t>
            </a:r>
            <a:endParaRPr lang="es-V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93B575-880D-49D2-8A82-DE0618B8EED9}" type="datetimeFigureOut">
              <a:rPr lang="es-VE" smtClean="0"/>
              <a:t>21/2/2026</a:t>
            </a:fld>
            <a:endParaRPr lang="es-V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09156-D94A-49C2-BCAF-F5C01C01892D}" type="slidenum">
              <a:rPr lang="es-VE" smtClean="0"/>
              <a:t>‹#›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18147635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V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93B575-880D-49D2-8A82-DE0618B8EED9}" type="datetimeFigureOut">
              <a:rPr lang="es-VE" smtClean="0"/>
              <a:t>21/2/2026</a:t>
            </a:fld>
            <a:endParaRPr lang="es-V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09156-D94A-49C2-BCAF-F5C01C01892D}" type="slidenum">
              <a:rPr lang="es-VE" smtClean="0"/>
              <a:t>‹#›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9959528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93B575-880D-49D2-8A82-DE0618B8EED9}" type="datetimeFigureOut">
              <a:rPr lang="es-VE" smtClean="0"/>
              <a:t>21/2/2026</a:t>
            </a:fld>
            <a:endParaRPr lang="es-V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09156-D94A-49C2-BCAF-F5C01C01892D}" type="slidenum">
              <a:rPr lang="es-VE" smtClean="0"/>
              <a:t>‹#›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33526106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VE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VE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93B575-880D-49D2-8A82-DE0618B8EED9}" type="datetimeFigureOut">
              <a:rPr lang="es-VE" smtClean="0"/>
              <a:t>21/2/2026</a:t>
            </a:fld>
            <a:endParaRPr lang="es-V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09156-D94A-49C2-BCAF-F5C01C01892D}" type="slidenum">
              <a:rPr lang="es-VE" smtClean="0"/>
              <a:t>‹#›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30483710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VE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VE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93B575-880D-49D2-8A82-DE0618B8EED9}" type="datetimeFigureOut">
              <a:rPr lang="es-VE" smtClean="0"/>
              <a:t>21/2/2026</a:t>
            </a:fld>
            <a:endParaRPr lang="es-VE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09156-D94A-49C2-BCAF-F5C01C01892D}" type="slidenum">
              <a:rPr lang="es-VE" smtClean="0"/>
              <a:t>‹#›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28336014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93B575-880D-49D2-8A82-DE0618B8EED9}" type="datetimeFigureOut">
              <a:rPr lang="es-VE" smtClean="0"/>
              <a:t>21/2/2026</a:t>
            </a:fld>
            <a:endParaRPr lang="es-VE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09156-D94A-49C2-BCAF-F5C01C01892D}" type="slidenum">
              <a:rPr lang="es-VE" smtClean="0"/>
              <a:t>‹#›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9595923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93B575-880D-49D2-8A82-DE0618B8EED9}" type="datetimeFigureOut">
              <a:rPr lang="es-VE" smtClean="0"/>
              <a:t>21/2/2026</a:t>
            </a:fld>
            <a:endParaRPr lang="es-VE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09156-D94A-49C2-BCAF-F5C01C01892D}" type="slidenum">
              <a:rPr lang="es-VE" smtClean="0"/>
              <a:t>‹#›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25770381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VE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93B575-880D-49D2-8A82-DE0618B8EED9}" type="datetimeFigureOut">
              <a:rPr lang="es-VE" smtClean="0"/>
              <a:t>21/2/2026</a:t>
            </a:fld>
            <a:endParaRPr lang="es-V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09156-D94A-49C2-BCAF-F5C01C01892D}" type="slidenum">
              <a:rPr lang="es-VE" smtClean="0"/>
              <a:t>‹#›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231520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VE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93B575-880D-49D2-8A82-DE0618B8EED9}" type="datetimeFigureOut">
              <a:rPr lang="es-VE" smtClean="0"/>
              <a:t>21/2/2026</a:t>
            </a:fld>
            <a:endParaRPr lang="es-V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09156-D94A-49C2-BCAF-F5C01C01892D}" type="slidenum">
              <a:rPr lang="es-VE" smtClean="0"/>
              <a:t>‹#›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13631849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V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93B575-880D-49D2-8A82-DE0618B8EED9}" type="datetimeFigureOut">
              <a:rPr lang="es-VE" smtClean="0"/>
              <a:t>21/2/2026</a:t>
            </a:fld>
            <a:endParaRPr lang="es-V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09156-D94A-49C2-BCAF-F5C01C01892D}" type="slidenum">
              <a:rPr lang="es-VE" smtClean="0"/>
              <a:t>‹#›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11056699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V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93B575-880D-49D2-8A82-DE0618B8EED9}" type="datetimeFigureOut">
              <a:rPr lang="es-VE" smtClean="0"/>
              <a:t>21/2/2026</a:t>
            </a:fld>
            <a:endParaRPr lang="es-V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09156-D94A-49C2-BCAF-F5C01C01892D}" type="slidenum">
              <a:rPr lang="es-VE" smtClean="0"/>
              <a:t>‹#›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3464801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V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93B575-880D-49D2-8A82-DE0618B8EED9}" type="datetimeFigureOut">
              <a:rPr lang="es-VE" smtClean="0"/>
              <a:t>21/2/2026</a:t>
            </a:fld>
            <a:endParaRPr lang="es-V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V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509156-D94A-49C2-BCAF-F5C01C01892D}" type="slidenum">
              <a:rPr lang="es-VE" smtClean="0"/>
              <a:t>‹#›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1653670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Imagen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965" y="282653"/>
            <a:ext cx="1020690" cy="12461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ángulo 4"/>
          <p:cNvSpPr/>
          <p:nvPr/>
        </p:nvSpPr>
        <p:spPr>
          <a:xfrm>
            <a:off x="3214688" y="259255"/>
            <a:ext cx="5129212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VE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UNIVERSIDAD DEL ZULIA           </a:t>
            </a:r>
          </a:p>
          <a:p>
            <a:pPr algn="ctr"/>
            <a:r>
              <a:rPr lang="es-VE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FACULTAD</a:t>
            </a:r>
            <a:r>
              <a:rPr lang="es-VE" sz="2000" spc="-15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VE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EXPERIMENTAL</a:t>
            </a:r>
            <a:r>
              <a:rPr lang="es-VE" sz="2000" spc="-3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VE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</a:t>
            </a:r>
            <a:r>
              <a:rPr lang="es-VE" sz="2000" spc="-2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VE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CIENCIAS</a:t>
            </a:r>
          </a:p>
          <a:p>
            <a:pPr algn="ctr"/>
            <a:r>
              <a:rPr lang="es-VE" sz="2000" dirty="0"/>
              <a:t>DIVISIÓN DE PROGRAMAS ESPECIALES</a:t>
            </a:r>
            <a:endParaRPr lang="en-US" sz="2000" dirty="0"/>
          </a:p>
          <a:p>
            <a:pPr algn="ctr"/>
            <a:r>
              <a:rPr lang="es-VE" sz="2000" dirty="0"/>
              <a:t>LICENCIATURA EN COMPUTACIÓN</a:t>
            </a:r>
          </a:p>
        </p:txBody>
      </p:sp>
      <p:sp>
        <p:nvSpPr>
          <p:cNvPr id="8" name="Rectángulo 7"/>
          <p:cNvSpPr/>
          <p:nvPr/>
        </p:nvSpPr>
        <p:spPr>
          <a:xfrm>
            <a:off x="1807593" y="2190371"/>
            <a:ext cx="8511908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VE" sz="4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DESARROLLO DE SISTEMAS</a:t>
            </a:r>
          </a:p>
        </p:txBody>
      </p:sp>
      <p:sp>
        <p:nvSpPr>
          <p:cNvPr id="6" name="Rectángulo 5"/>
          <p:cNvSpPr/>
          <p:nvPr/>
        </p:nvSpPr>
        <p:spPr>
          <a:xfrm>
            <a:off x="4703662" y="3651566"/>
            <a:ext cx="320113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VE" sz="2800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SIG Gestor de Riesgo</a:t>
            </a:r>
            <a:endParaRPr lang="es-VE" sz="2800" i="1" dirty="0"/>
          </a:p>
        </p:txBody>
      </p:sp>
      <p:sp>
        <p:nvSpPr>
          <p:cNvPr id="10" name="Rectángulo 9"/>
          <p:cNvSpPr/>
          <p:nvPr/>
        </p:nvSpPr>
        <p:spPr>
          <a:xfrm>
            <a:off x="5617328" y="6199063"/>
            <a:ext cx="162416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VE" sz="1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PERIODO</a:t>
            </a:r>
            <a:r>
              <a:rPr lang="es-VE" sz="1600" spc="-4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II - 2025</a:t>
            </a:r>
            <a:endParaRPr lang="es-VE" sz="1600" dirty="0"/>
          </a:p>
        </p:txBody>
      </p:sp>
      <p:sp>
        <p:nvSpPr>
          <p:cNvPr id="9" name="Rectángulo 8"/>
          <p:cNvSpPr/>
          <p:nvPr/>
        </p:nvSpPr>
        <p:spPr>
          <a:xfrm>
            <a:off x="21869" y="2926939"/>
            <a:ext cx="12192000" cy="503434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VE" sz="2800" dirty="0">
                <a:latin typeface="Verdana" panose="020B0604030504040204" pitchFamily="34" charset="0"/>
                <a:ea typeface="Verdana" panose="020B0604030504040204" pitchFamily="34" charset="0"/>
              </a:rPr>
              <a:t>PROYECTO FINAL</a:t>
            </a:r>
            <a:endParaRPr lang="es-VE" sz="2800" dirty="0"/>
          </a:p>
        </p:txBody>
      </p:sp>
      <p:sp>
        <p:nvSpPr>
          <p:cNvPr id="11" name="Rectángulo 10"/>
          <p:cNvSpPr/>
          <p:nvPr/>
        </p:nvSpPr>
        <p:spPr>
          <a:xfrm>
            <a:off x="8824264" y="5442419"/>
            <a:ext cx="165090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VE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Presentado por</a:t>
            </a:r>
            <a:endParaRPr lang="es-VE" b="1" dirty="0"/>
          </a:p>
        </p:txBody>
      </p:sp>
      <p:sp>
        <p:nvSpPr>
          <p:cNvPr id="12" name="Rectángulo 11"/>
          <p:cNvSpPr/>
          <p:nvPr/>
        </p:nvSpPr>
        <p:spPr>
          <a:xfrm>
            <a:off x="9493381" y="5795051"/>
            <a:ext cx="21295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VE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Rosales, Jefferson</a:t>
            </a: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48901" y="186362"/>
            <a:ext cx="1375526" cy="1375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25509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12192000" cy="503434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VE" sz="2400" dirty="0"/>
              <a:t>PROYECTO FINAL</a:t>
            </a:r>
          </a:p>
        </p:txBody>
      </p:sp>
      <p:sp>
        <p:nvSpPr>
          <p:cNvPr id="5" name="Rectángulo 4"/>
          <p:cNvSpPr/>
          <p:nvPr/>
        </p:nvSpPr>
        <p:spPr>
          <a:xfrm>
            <a:off x="0" y="503434"/>
            <a:ext cx="12192000" cy="554804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VE" sz="2400" dirty="0"/>
              <a:t>AGENDA</a:t>
            </a:r>
          </a:p>
        </p:txBody>
      </p:sp>
      <p:sp>
        <p:nvSpPr>
          <p:cNvPr id="7" name="CuadroTexto 6"/>
          <p:cNvSpPr txBox="1"/>
          <p:nvPr/>
        </p:nvSpPr>
        <p:spPr>
          <a:xfrm>
            <a:off x="883767" y="1561672"/>
            <a:ext cx="10323871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39750" indent="-539750">
              <a:buFont typeface="+mj-lt"/>
              <a:buAutoNum type="arabicPeriod"/>
            </a:pPr>
            <a:r>
              <a:rPr lang="es-VE" sz="2800" dirty="0"/>
              <a:t>Identificar: entradas, procesos y salidas</a:t>
            </a:r>
          </a:p>
          <a:p>
            <a:pPr marL="539750" indent="-539750">
              <a:buFont typeface="+mj-lt"/>
              <a:buAutoNum type="arabicPeriod"/>
            </a:pPr>
            <a:r>
              <a:rPr lang="es-VE" sz="2800" dirty="0"/>
              <a:t>Ciclo de Vida seleccionado (resumen)</a:t>
            </a:r>
          </a:p>
          <a:p>
            <a:pPr marL="539750" indent="-539750">
              <a:buFont typeface="+mj-lt"/>
              <a:buAutoNum type="arabicPeriod"/>
            </a:pPr>
            <a:r>
              <a:rPr lang="es-VE" sz="2800" dirty="0"/>
              <a:t>Tecnologías y Herramientas de Desarrollo</a:t>
            </a:r>
          </a:p>
          <a:p>
            <a:pPr marL="539750" indent="-539750">
              <a:buFont typeface="+mj-lt"/>
              <a:buAutoNum type="arabicPeriod"/>
            </a:pPr>
            <a:r>
              <a:rPr lang="es-VE" sz="2800" dirty="0"/>
              <a:t>Diagrama de Flujo de Datos (DFD)</a:t>
            </a:r>
          </a:p>
          <a:p>
            <a:pPr marL="539750" indent="-539750">
              <a:buFont typeface="+mj-lt"/>
              <a:buAutoNum type="arabicPeriod"/>
            </a:pPr>
            <a:r>
              <a:rPr lang="es-VE" sz="2800" dirty="0"/>
              <a:t>Diccionario de Datos (DFD)</a:t>
            </a:r>
          </a:p>
          <a:p>
            <a:pPr marL="539750" indent="-539750">
              <a:buFont typeface="+mj-lt"/>
              <a:buAutoNum type="arabicPeriod"/>
            </a:pPr>
            <a:r>
              <a:rPr lang="es-VE" sz="2800" dirty="0"/>
              <a:t>Diagrama Entidad – Relación</a:t>
            </a:r>
          </a:p>
          <a:p>
            <a:pPr marL="539750" indent="-539750">
              <a:buFont typeface="+mj-lt"/>
              <a:buAutoNum type="arabicPeriod"/>
            </a:pPr>
            <a:r>
              <a:rPr lang="es-VE" sz="2800" dirty="0"/>
              <a:t>Diccionario de Datos (Diagrama E-R)</a:t>
            </a:r>
          </a:p>
          <a:p>
            <a:pPr marL="539750" indent="-539750">
              <a:buFont typeface="+mj-lt"/>
              <a:buAutoNum type="arabicPeriod"/>
            </a:pPr>
            <a:r>
              <a:rPr lang="es-VE" sz="2800" dirty="0"/>
              <a:t>Interfaces de Entrada / Salida</a:t>
            </a:r>
          </a:p>
          <a:p>
            <a:pPr marL="539750" indent="-539750">
              <a:buFont typeface="+mj-lt"/>
              <a:buAutoNum type="arabicPeriod"/>
            </a:pPr>
            <a:r>
              <a:rPr lang="es-VE" sz="2800" dirty="0"/>
              <a:t>Demostración de Pruebas al SI</a:t>
            </a:r>
          </a:p>
          <a:p>
            <a:pPr marL="539750" indent="-539750">
              <a:buFont typeface="+mj-lt"/>
              <a:buAutoNum type="arabicPeriod"/>
            </a:pPr>
            <a:r>
              <a:rPr lang="es-VE" sz="2800" dirty="0"/>
              <a:t>Plan de Mantenimiento</a:t>
            </a:r>
          </a:p>
          <a:p>
            <a:pPr marL="539750" indent="-539750">
              <a:buFont typeface="+mj-lt"/>
              <a:buAutoNum type="arabicPeriod"/>
            </a:pPr>
            <a:r>
              <a:rPr lang="es-VE" sz="2800" dirty="0"/>
              <a:t> Personal que participo (soporte - minuta)</a:t>
            </a:r>
          </a:p>
        </p:txBody>
      </p:sp>
    </p:spTree>
    <p:extLst>
      <p:ext uri="{BB962C8B-B14F-4D97-AF65-F5344CB8AC3E}">
        <p14:creationId xmlns:p14="http://schemas.microsoft.com/office/powerpoint/2010/main" val="25637959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12192000" cy="503434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VE" sz="2400" dirty="0"/>
              <a:t>PROYECTO FINAL</a:t>
            </a:r>
          </a:p>
        </p:txBody>
      </p:sp>
      <p:sp>
        <p:nvSpPr>
          <p:cNvPr id="5" name="Rectángulo 4"/>
          <p:cNvSpPr/>
          <p:nvPr/>
        </p:nvSpPr>
        <p:spPr>
          <a:xfrm>
            <a:off x="0" y="503434"/>
            <a:ext cx="12192000" cy="554804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VE" sz="2400" dirty="0"/>
              <a:t>ENTRADA – PROCESOS - SALIDAS</a:t>
            </a:r>
          </a:p>
        </p:txBody>
      </p:sp>
      <p:sp>
        <p:nvSpPr>
          <p:cNvPr id="2" name="Rectángulo 1"/>
          <p:cNvSpPr/>
          <p:nvPr/>
        </p:nvSpPr>
        <p:spPr>
          <a:xfrm>
            <a:off x="4190012" y="1680755"/>
            <a:ext cx="3217818" cy="4802777"/>
          </a:xfrm>
          <a:prstGeom prst="rect">
            <a:avLst/>
          </a:prstGeom>
          <a:ln w="28575">
            <a:solidFill>
              <a:srgbClr val="BD36F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VE" dirty="0"/>
          </a:p>
        </p:txBody>
      </p:sp>
      <p:sp>
        <p:nvSpPr>
          <p:cNvPr id="3" name="CuadroTexto 2"/>
          <p:cNvSpPr txBox="1"/>
          <p:nvPr/>
        </p:nvSpPr>
        <p:spPr>
          <a:xfrm>
            <a:off x="8604870" y="1307728"/>
            <a:ext cx="24427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VE" sz="2400" b="1" dirty="0"/>
              <a:t>SALIDAS</a:t>
            </a:r>
          </a:p>
        </p:txBody>
      </p:sp>
      <p:sp>
        <p:nvSpPr>
          <p:cNvPr id="7" name="CuadroTexto 6"/>
          <p:cNvSpPr txBox="1"/>
          <p:nvPr/>
        </p:nvSpPr>
        <p:spPr>
          <a:xfrm>
            <a:off x="839585" y="1330839"/>
            <a:ext cx="24427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VE" sz="2400" b="1" dirty="0"/>
              <a:t>ENTRADAS</a:t>
            </a:r>
          </a:p>
        </p:txBody>
      </p:sp>
      <p:sp>
        <p:nvSpPr>
          <p:cNvPr id="8" name="CuadroTexto 7"/>
          <p:cNvSpPr txBox="1"/>
          <p:nvPr/>
        </p:nvSpPr>
        <p:spPr>
          <a:xfrm>
            <a:off x="4515395" y="1750313"/>
            <a:ext cx="24427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VE" sz="2400" b="1" dirty="0">
                <a:solidFill>
                  <a:schemeClr val="bg1"/>
                </a:solidFill>
              </a:rPr>
              <a:t>PROCESOS</a:t>
            </a:r>
          </a:p>
        </p:txBody>
      </p:sp>
      <p:cxnSp>
        <p:nvCxnSpPr>
          <p:cNvPr id="10" name="Conector recto de flecha 9"/>
          <p:cNvCxnSpPr>
            <a:cxnSpLocks/>
          </p:cNvCxnSpPr>
          <p:nvPr/>
        </p:nvCxnSpPr>
        <p:spPr>
          <a:xfrm>
            <a:off x="344779" y="2364377"/>
            <a:ext cx="3543207" cy="0"/>
          </a:xfrm>
          <a:prstGeom prst="straightConnector1">
            <a:avLst/>
          </a:prstGeom>
          <a:ln w="38100">
            <a:solidFill>
              <a:srgbClr val="BD36F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cto de flecha 10"/>
          <p:cNvCxnSpPr>
            <a:cxnSpLocks/>
          </p:cNvCxnSpPr>
          <p:nvPr/>
        </p:nvCxnSpPr>
        <p:spPr>
          <a:xfrm>
            <a:off x="7931536" y="2379617"/>
            <a:ext cx="3567742" cy="0"/>
          </a:xfrm>
          <a:prstGeom prst="straightConnector1">
            <a:avLst/>
          </a:prstGeom>
          <a:ln w="38100">
            <a:solidFill>
              <a:srgbClr val="BD36F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uadroTexto 8">
            <a:extLst>
              <a:ext uri="{FF2B5EF4-FFF2-40B4-BE49-F238E27FC236}">
                <a16:creationId xmlns:a16="http://schemas.microsoft.com/office/drawing/2014/main" id="{2288DF24-30AB-54F6-A02B-4255DFE2B3EC}"/>
              </a:ext>
            </a:extLst>
          </p:cNvPr>
          <p:cNvSpPr txBox="1"/>
          <p:nvPr/>
        </p:nvSpPr>
        <p:spPr>
          <a:xfrm>
            <a:off x="374078" y="2774831"/>
            <a:ext cx="3513908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419" b="1" dirty="0"/>
              <a:t>Entradas:</a:t>
            </a:r>
            <a:r>
              <a:rPr lang="es-419" dirty="0"/>
              <a:t> Los datos que alimentan un SIG provienen de fuentes espaciales como imágenes satelitales, GPS y modelos de elevación, así como de fuentes alfanuméricas como censos y catastros. Antes de ser utilizados, estos datos deben estar georreferenciados y estructurados en capas dentro del sistema.</a:t>
            </a:r>
            <a:br>
              <a:rPr lang="es-VE" sz="1800" noProof="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br>
              <a:rPr lang="es-VE" sz="1800" noProof="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endParaRPr lang="es-VE" sz="1800" noProof="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0F593FE7-0C02-064C-13BB-DE5D096A1192}"/>
              </a:ext>
            </a:extLst>
          </p:cNvPr>
          <p:cNvSpPr txBox="1"/>
          <p:nvPr/>
        </p:nvSpPr>
        <p:spPr>
          <a:xfrm>
            <a:off x="4351887" y="2584524"/>
            <a:ext cx="2825189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419" b="1" dirty="0"/>
              <a:t>Procesos:</a:t>
            </a:r>
            <a:r>
              <a:rPr lang="es-419" dirty="0"/>
              <a:t> Una vez ingresados, los datos se almacenan en </a:t>
            </a:r>
            <a:r>
              <a:rPr lang="es-419" dirty="0" err="1"/>
              <a:t>geodatabases</a:t>
            </a:r>
            <a:r>
              <a:rPr lang="es-419" dirty="0"/>
              <a:t> y se someten a operaciones de análisis espacial como superposición de capas, buffers, cálculo de rutas e interpolación. También se realizan consultas que combinan criterios geográficos y descriptivos para extraer información relevante del territorio.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F90C3CE7-0E2A-C772-3FB0-83D16520F0A9}"/>
              </a:ext>
            </a:extLst>
          </p:cNvPr>
          <p:cNvSpPr txBox="1"/>
          <p:nvPr/>
        </p:nvSpPr>
        <p:spPr>
          <a:xfrm>
            <a:off x="7820696" y="2774831"/>
            <a:ext cx="3609307" cy="30458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s-419" b="1"/>
              <a:t>Salidas:</a:t>
            </a:r>
            <a:r>
              <a:rPr lang="es-419"/>
              <a:t> </a:t>
            </a:r>
            <a:r>
              <a:rPr lang="es-419" dirty="0"/>
              <a:t>Los resultados del análisis se comunican mediante mapas temáticos, reportes estadísticos, archivos exportables y servicios web geoespaciales. Estas salidas sirven de base para la toma de decisiones y retroalimentan el sistema con nuevas preguntas y análisis.</a:t>
            </a:r>
            <a:br>
              <a:rPr lang="es-VE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endParaRPr lang="en-US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31630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12192000" cy="503434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VE" sz="2400" dirty="0"/>
              <a:t>PROYECTO FINAL</a:t>
            </a:r>
          </a:p>
        </p:txBody>
      </p:sp>
      <p:sp>
        <p:nvSpPr>
          <p:cNvPr id="5" name="Rectángulo 4"/>
          <p:cNvSpPr/>
          <p:nvPr/>
        </p:nvSpPr>
        <p:spPr>
          <a:xfrm>
            <a:off x="0" y="503434"/>
            <a:ext cx="12192000" cy="554804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VE" sz="2400" dirty="0"/>
              <a:t>CICLO DE VIDA SELECCIONADO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CDAF3B20-6A7A-E445-F6A1-B356FBECBA02}"/>
              </a:ext>
            </a:extLst>
          </p:cNvPr>
          <p:cNvSpPr txBox="1"/>
          <p:nvPr/>
        </p:nvSpPr>
        <p:spPr>
          <a:xfrm>
            <a:off x="3141522" y="1141522"/>
            <a:ext cx="609946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VE" sz="2000" dirty="0"/>
              <a:t>Aplicación del Ciclo de Vida Evolutivo-Incremental al Sistema de Información de </a:t>
            </a:r>
            <a:r>
              <a:rPr lang="es-VE" sz="2000" i="1" dirty="0"/>
              <a:t>SIG Gestor de riesgo</a:t>
            </a:r>
            <a:endParaRPr lang="en-US" sz="2000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42671661-F49F-5980-2777-BFFE086D01A7}"/>
              </a:ext>
            </a:extLst>
          </p:cNvPr>
          <p:cNvSpPr txBox="1"/>
          <p:nvPr/>
        </p:nvSpPr>
        <p:spPr>
          <a:xfrm>
            <a:off x="211279" y="1846723"/>
            <a:ext cx="1157893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419" b="1" dirty="0"/>
              <a:t>Biografía de </a:t>
            </a:r>
            <a:r>
              <a:rPr lang="es-419" b="1" dirty="0" err="1"/>
              <a:t>Lloréns</a:t>
            </a:r>
            <a:r>
              <a:rPr lang="es-419" b="1" dirty="0"/>
              <a:t> Fábregas</a:t>
            </a:r>
            <a:endParaRPr lang="es-419" dirty="0"/>
          </a:p>
          <a:p>
            <a:r>
              <a:rPr lang="es-419" dirty="0" err="1"/>
              <a:t>Lloréns</a:t>
            </a:r>
            <a:r>
              <a:rPr lang="es-419" dirty="0"/>
              <a:t> Fábregas fue un académico español en ingeniería de software que desarrolló el ciclo de vida evolutivo-incremental. Su metodología propone desarrollo flexible basado en iteración y entregas progresivas, superando las limitaciones del modelo estructurado tradicional.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B443BF8D-0F91-4F6F-DD48-9B5853527884}"/>
              </a:ext>
            </a:extLst>
          </p:cNvPr>
          <p:cNvSpPr txBox="1"/>
          <p:nvPr/>
        </p:nvSpPr>
        <p:spPr>
          <a:xfrm>
            <a:off x="181839" y="4180454"/>
            <a:ext cx="578223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419" b="1" dirty="0"/>
              <a:t>El modelo Evolutivo-Incremental permite:</a:t>
            </a:r>
            <a:endParaRPr lang="es-419" dirty="0"/>
          </a:p>
          <a:p>
            <a:r>
              <a:rPr lang="es-419" dirty="0"/>
              <a:t>1. Comenzar con fuentes de datos disponibles</a:t>
            </a:r>
          </a:p>
          <a:p>
            <a:r>
              <a:rPr lang="es-419" dirty="0"/>
              <a:t>2. Agregar integraciones conforme se establecen convenios</a:t>
            </a:r>
          </a:p>
          <a:p>
            <a:r>
              <a:rPr lang="es-419" dirty="0"/>
              <a:t>3. Probar cada fuente de datos independientemente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3D9E7738-4AE6-8601-74A8-F9739EA76CC0}"/>
              </a:ext>
            </a:extLst>
          </p:cNvPr>
          <p:cNvSpPr txBox="1"/>
          <p:nvPr/>
        </p:nvSpPr>
        <p:spPr>
          <a:xfrm>
            <a:off x="181839" y="3152088"/>
            <a:ext cx="1182832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419" dirty="0"/>
              <a:t>Para el desarrollo del SIG de gestión de zonas de riesgo, se ha seleccionado el ciclo de vida Evolutivo-Incremental de </a:t>
            </a:r>
            <a:r>
              <a:rPr lang="es-419" dirty="0" err="1"/>
              <a:t>Lloréns</a:t>
            </a:r>
            <a:r>
              <a:rPr lang="es-419" dirty="0"/>
              <a:t> Fábregas. Este enfoque permite desarrollar el sistema por módulos progresivos, facilitando la validación continua, adaptación a requisitos cambiantes, y entregas funcionales tempranas.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76987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0" y="0"/>
            <a:ext cx="12192000" cy="503434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VE" sz="2400" dirty="0"/>
              <a:t>PROYECTO FINAL</a:t>
            </a:r>
          </a:p>
        </p:txBody>
      </p:sp>
      <p:sp>
        <p:nvSpPr>
          <p:cNvPr id="3" name="Rectángulo 2"/>
          <p:cNvSpPr/>
          <p:nvPr/>
        </p:nvSpPr>
        <p:spPr>
          <a:xfrm>
            <a:off x="0" y="503434"/>
            <a:ext cx="12192000" cy="554804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VE" sz="2400" dirty="0"/>
              <a:t>TECNOLOGÍAS Y HERRAMIENTAS DE DESARROLLO</a:t>
            </a:r>
          </a:p>
        </p:txBody>
      </p:sp>
      <p:sp>
        <p:nvSpPr>
          <p:cNvPr id="4" name="Rectángulo 3"/>
          <p:cNvSpPr/>
          <p:nvPr/>
        </p:nvSpPr>
        <p:spPr>
          <a:xfrm>
            <a:off x="842962" y="1645264"/>
            <a:ext cx="5219701" cy="28584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07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VE" sz="2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Lenguajes de programación</a:t>
            </a:r>
          </a:p>
          <a:p>
            <a:pPr marL="457200" indent="-457200" algn="just">
              <a:lnSpc>
                <a:spcPct val="107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VE" sz="2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Frameworks</a:t>
            </a:r>
            <a:endParaRPr lang="es-VE" sz="2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07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VE" sz="2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Frontend</a:t>
            </a:r>
            <a:r>
              <a:rPr lang="es-VE" sz="2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/</a:t>
            </a:r>
            <a:r>
              <a:rPr lang="es-VE" sz="2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Backend</a:t>
            </a:r>
            <a:endParaRPr lang="es-VE" sz="2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07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VE" sz="2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Base de Datos</a:t>
            </a:r>
          </a:p>
          <a:p>
            <a:pPr marL="457200" indent="-457200" algn="just">
              <a:lnSpc>
                <a:spcPct val="107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VE" sz="2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Herramiestas</a:t>
            </a:r>
            <a:r>
              <a:rPr lang="es-VE" sz="2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de apoyo</a:t>
            </a:r>
          </a:p>
          <a:p>
            <a:pPr marL="457200" indent="-457200" algn="just">
              <a:lnSpc>
                <a:spcPct val="107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VE" sz="2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Herramientas compartidas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92116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0" y="0"/>
            <a:ext cx="12192000" cy="503434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VE" sz="2400" dirty="0"/>
              <a:t>PROYECTO FINAL</a:t>
            </a:r>
          </a:p>
        </p:txBody>
      </p:sp>
      <p:sp>
        <p:nvSpPr>
          <p:cNvPr id="3" name="Rectángulo 2"/>
          <p:cNvSpPr/>
          <p:nvPr/>
        </p:nvSpPr>
        <p:spPr>
          <a:xfrm>
            <a:off x="0" y="503434"/>
            <a:ext cx="12192000" cy="554804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VE" sz="2400" dirty="0"/>
              <a:t>DIAGRAMA DE FLUJO DE DATOS - DFD</a:t>
            </a:r>
          </a:p>
        </p:txBody>
      </p:sp>
    </p:spTree>
    <p:extLst>
      <p:ext uri="{BB962C8B-B14F-4D97-AF65-F5344CB8AC3E}">
        <p14:creationId xmlns:p14="http://schemas.microsoft.com/office/powerpoint/2010/main" val="17539785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0" y="0"/>
            <a:ext cx="12192000" cy="503434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VE" sz="2400" dirty="0"/>
              <a:t>PROYECTO FINAL</a:t>
            </a:r>
          </a:p>
        </p:txBody>
      </p:sp>
      <p:sp>
        <p:nvSpPr>
          <p:cNvPr id="3" name="Rectángulo 2"/>
          <p:cNvSpPr/>
          <p:nvPr/>
        </p:nvSpPr>
        <p:spPr>
          <a:xfrm>
            <a:off x="0" y="503434"/>
            <a:ext cx="12192000" cy="554804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VE" sz="2400" dirty="0"/>
              <a:t>DICCIONARIO DE DATOS - DFD</a:t>
            </a:r>
          </a:p>
        </p:txBody>
      </p:sp>
    </p:spTree>
    <p:extLst>
      <p:ext uri="{BB962C8B-B14F-4D97-AF65-F5344CB8AC3E}">
        <p14:creationId xmlns:p14="http://schemas.microsoft.com/office/powerpoint/2010/main" val="35943161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0" y="0"/>
            <a:ext cx="12192000" cy="503434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VE" sz="2400" dirty="0"/>
              <a:t>PROYECTO FINAL</a:t>
            </a:r>
          </a:p>
        </p:txBody>
      </p:sp>
      <p:sp>
        <p:nvSpPr>
          <p:cNvPr id="3" name="Rectángulo 2"/>
          <p:cNvSpPr/>
          <p:nvPr/>
        </p:nvSpPr>
        <p:spPr>
          <a:xfrm>
            <a:off x="0" y="503434"/>
            <a:ext cx="12192000" cy="554804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VE" sz="2400" dirty="0"/>
              <a:t>DIAGRAMA ENTIDAD – RELACIÓN </a:t>
            </a:r>
          </a:p>
        </p:txBody>
      </p:sp>
    </p:spTree>
    <p:extLst>
      <p:ext uri="{BB962C8B-B14F-4D97-AF65-F5344CB8AC3E}">
        <p14:creationId xmlns:p14="http://schemas.microsoft.com/office/powerpoint/2010/main" val="13933204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0" y="0"/>
            <a:ext cx="12192000" cy="503434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VE" sz="2400" dirty="0"/>
              <a:t>PROYECTO FINAL</a:t>
            </a:r>
          </a:p>
        </p:txBody>
      </p:sp>
      <p:sp>
        <p:nvSpPr>
          <p:cNvPr id="3" name="Rectángulo 2"/>
          <p:cNvSpPr/>
          <p:nvPr/>
        </p:nvSpPr>
        <p:spPr>
          <a:xfrm>
            <a:off x="0" y="503434"/>
            <a:ext cx="12192000" cy="554804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VE" sz="2400" dirty="0"/>
              <a:t>DICCIONARIO DE DATOS - DFD </a:t>
            </a:r>
          </a:p>
        </p:txBody>
      </p:sp>
    </p:spTree>
    <p:extLst>
      <p:ext uri="{BB962C8B-B14F-4D97-AF65-F5344CB8AC3E}">
        <p14:creationId xmlns:p14="http://schemas.microsoft.com/office/powerpoint/2010/main" val="24480710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0" y="0"/>
            <a:ext cx="12192000" cy="503434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VE" sz="2400" dirty="0"/>
              <a:t>PROYECTO FINAL</a:t>
            </a:r>
          </a:p>
        </p:txBody>
      </p:sp>
      <p:sp>
        <p:nvSpPr>
          <p:cNvPr id="3" name="Rectángulo 2"/>
          <p:cNvSpPr/>
          <p:nvPr/>
        </p:nvSpPr>
        <p:spPr>
          <a:xfrm>
            <a:off x="0" y="503434"/>
            <a:ext cx="12192000" cy="554804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VE" sz="2400" dirty="0"/>
              <a:t>INTERFACES DE ENTRADA / SALIDA</a:t>
            </a:r>
          </a:p>
        </p:txBody>
      </p:sp>
    </p:spTree>
    <p:extLst>
      <p:ext uri="{BB962C8B-B14F-4D97-AF65-F5344CB8AC3E}">
        <p14:creationId xmlns:p14="http://schemas.microsoft.com/office/powerpoint/2010/main" val="34852434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0" y="0"/>
            <a:ext cx="12192000" cy="503434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VE" sz="2400" dirty="0"/>
              <a:t>PROYECTO FINAL</a:t>
            </a:r>
          </a:p>
        </p:txBody>
      </p:sp>
      <p:sp>
        <p:nvSpPr>
          <p:cNvPr id="3" name="Rectángulo 2"/>
          <p:cNvSpPr/>
          <p:nvPr/>
        </p:nvSpPr>
        <p:spPr>
          <a:xfrm>
            <a:off x="0" y="503434"/>
            <a:ext cx="12192000" cy="554804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VE" sz="2400" dirty="0"/>
              <a:t>PRUEBAS  DE SISTEMAS DE INFORMACIÓN</a:t>
            </a:r>
          </a:p>
        </p:txBody>
      </p:sp>
      <p:sp>
        <p:nvSpPr>
          <p:cNvPr id="4" name="Rectángulo 3"/>
          <p:cNvSpPr/>
          <p:nvPr/>
        </p:nvSpPr>
        <p:spPr>
          <a:xfrm>
            <a:off x="842962" y="1645264"/>
            <a:ext cx="8172451" cy="14754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07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VE" sz="2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Pruebas Funcionales</a:t>
            </a:r>
          </a:p>
          <a:p>
            <a:pPr marL="457200" indent="-457200" algn="just">
              <a:lnSpc>
                <a:spcPct val="107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VE" sz="2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Pruea</a:t>
            </a:r>
            <a:r>
              <a:rPr lang="es-VE" sz="2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No Funcionales</a:t>
            </a:r>
          </a:p>
          <a:p>
            <a:pPr marL="457200" indent="-457200" algn="just">
              <a:lnSpc>
                <a:spcPct val="107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VE" sz="2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Pruebas Unitarias con </a:t>
            </a:r>
            <a:r>
              <a:rPr lang="es-VE" sz="2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Github</a:t>
            </a:r>
            <a:r>
              <a:rPr lang="es-VE" sz="2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VE" sz="2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Copilot</a:t>
            </a:r>
            <a:endParaRPr lang="es-VE" sz="2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29717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0" y="0"/>
            <a:ext cx="12192000" cy="503434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VE" sz="2400" dirty="0"/>
              <a:t>PROYECTO FINAL</a:t>
            </a:r>
          </a:p>
        </p:txBody>
      </p:sp>
      <p:sp>
        <p:nvSpPr>
          <p:cNvPr id="3" name="Rectángulo 2"/>
          <p:cNvSpPr/>
          <p:nvPr/>
        </p:nvSpPr>
        <p:spPr>
          <a:xfrm>
            <a:off x="0" y="503434"/>
            <a:ext cx="12192000" cy="554804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VE" sz="2400" dirty="0"/>
              <a:t>PLAN DE MANTENIMIENTO</a:t>
            </a:r>
          </a:p>
        </p:txBody>
      </p:sp>
      <p:sp>
        <p:nvSpPr>
          <p:cNvPr id="4" name="Rectángulo 3"/>
          <p:cNvSpPr/>
          <p:nvPr/>
        </p:nvSpPr>
        <p:spPr>
          <a:xfrm>
            <a:off x="842962" y="1645264"/>
            <a:ext cx="5219701" cy="1936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07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VE" sz="2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Correctivo</a:t>
            </a:r>
          </a:p>
          <a:p>
            <a:pPr marL="457200" indent="-457200" algn="just">
              <a:lnSpc>
                <a:spcPct val="107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VE" sz="2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Adaptativo</a:t>
            </a:r>
          </a:p>
          <a:p>
            <a:pPr marL="457200" indent="-457200" algn="just">
              <a:lnSpc>
                <a:spcPct val="107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VE" sz="2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Perfectivo</a:t>
            </a:r>
          </a:p>
          <a:p>
            <a:pPr marL="457200" indent="-457200" algn="just">
              <a:lnSpc>
                <a:spcPct val="107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VE" sz="2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Preventivo</a:t>
            </a:r>
          </a:p>
        </p:txBody>
      </p:sp>
    </p:spTree>
    <p:extLst>
      <p:ext uri="{BB962C8B-B14F-4D97-AF65-F5344CB8AC3E}">
        <p14:creationId xmlns:p14="http://schemas.microsoft.com/office/powerpoint/2010/main" val="32325026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0" y="0"/>
            <a:ext cx="12192000" cy="503434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VE" sz="2400" dirty="0"/>
              <a:t>PROYECTO FINAL</a:t>
            </a:r>
          </a:p>
        </p:txBody>
      </p:sp>
      <p:sp>
        <p:nvSpPr>
          <p:cNvPr id="3" name="Rectángulo 2"/>
          <p:cNvSpPr/>
          <p:nvPr/>
        </p:nvSpPr>
        <p:spPr>
          <a:xfrm>
            <a:off x="0" y="503434"/>
            <a:ext cx="12192000" cy="554804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VE" sz="2400" dirty="0"/>
              <a:t>CONCLUSIONES</a:t>
            </a:r>
          </a:p>
        </p:txBody>
      </p:sp>
    </p:spTree>
    <p:extLst>
      <p:ext uri="{BB962C8B-B14F-4D97-AF65-F5344CB8AC3E}">
        <p14:creationId xmlns:p14="http://schemas.microsoft.com/office/powerpoint/2010/main" val="263551304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186</TotalTime>
  <Words>553</Words>
  <Application>Microsoft Office PowerPoint</Application>
  <PresentationFormat>Widescreen</PresentationFormat>
  <Paragraphs>76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Aptos</vt:lpstr>
      <vt:lpstr>Arial</vt:lpstr>
      <vt:lpstr>Calibri</vt:lpstr>
      <vt:lpstr>Calibri Light</vt:lpstr>
      <vt:lpstr>Verdana</vt:lpstr>
      <vt:lpstr>Tema de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Yaskelly Yedra</dc:creator>
  <cp:lastModifiedBy>Jefferson Rosales</cp:lastModifiedBy>
  <cp:revision>20</cp:revision>
  <dcterms:created xsi:type="dcterms:W3CDTF">2024-09-12T15:26:05Z</dcterms:created>
  <dcterms:modified xsi:type="dcterms:W3CDTF">2026-02-22T01:25:36Z</dcterms:modified>
</cp:coreProperties>
</file>